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Fira Sans Medium"/>
      <p:regular r:id="rId25"/>
      <p:bold r:id="rId26"/>
      <p:italic r:id="rId27"/>
      <p:boldItalic r:id="rId28"/>
    </p:embeddedFont>
    <p:embeddedFont>
      <p:font typeface="Fira Sans Extra Condensed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Medium-bold.fntdata"/><Relationship Id="rId25" Type="http://schemas.openxmlformats.org/officeDocument/2006/relationships/font" Target="fonts/FiraSansMedium-regular.fntdata"/><Relationship Id="rId28" Type="http://schemas.openxmlformats.org/officeDocument/2006/relationships/font" Target="fonts/FiraSansMedium-boldItalic.fntdata"/><Relationship Id="rId27" Type="http://schemas.openxmlformats.org/officeDocument/2006/relationships/font" Target="fonts/Fira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ExtraCondensed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SemiBold-italic.fntdata"/><Relationship Id="rId30" Type="http://schemas.openxmlformats.org/officeDocument/2006/relationships/font" Target="fonts/FiraSansExtraCondensed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FiraSansExtraCondensed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497838636_1_5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497838636_1_5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Vila</a:t>
            </a:r>
            <a:endParaRPr sz="2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497838636_1_10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497838636_1_10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Vila</a:t>
            </a:r>
            <a:endParaRPr sz="2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497838636_1_10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497838636_1_10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Vila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497838636_1_1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497838636_1_1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Francisco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97838636_1_5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497838636_1_5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Francisco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497838636_1_1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497838636_1_1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Vila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497838636_1_1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497838636_1_1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Francisco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497838636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497838636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Francisco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497838636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497838636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497838636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497838636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Francisco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49783863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49783863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Vila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497838636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497838636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Vila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49783863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49783863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e8f80bbe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e8f80bbe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Vila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637575" y="1210550"/>
            <a:ext cx="32310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Weather Station</a:t>
            </a:r>
            <a:endParaRPr sz="500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37575" y="2845038"/>
            <a:ext cx="34623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Francisco Ribeiro - 107993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Miguel Vila - 107276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Embedded Systems </a:t>
            </a: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Architectures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25" title="WhatsApp Image 2025-07-06 at 5.06.16 PM.jpeg"/>
          <p:cNvPicPr preferRelativeResize="0"/>
          <p:nvPr/>
        </p:nvPicPr>
        <p:blipFill rotWithShape="1">
          <a:blip r:embed="rId3">
            <a:alphaModFix/>
          </a:blip>
          <a:srcRect b="18209" l="0" r="0" t="16411"/>
          <a:stretch/>
        </p:blipFill>
        <p:spPr>
          <a:xfrm>
            <a:off x="4691700" y="0"/>
            <a:ext cx="4452300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/>
        </p:nvSpPr>
        <p:spPr>
          <a:xfrm>
            <a:off x="3793325" y="411475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Introduction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1045" l="13662" r="3836" t="4802"/>
          <a:stretch/>
        </p:blipFill>
        <p:spPr>
          <a:xfrm>
            <a:off x="0" y="0"/>
            <a:ext cx="3393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/>
          <p:nvPr/>
        </p:nvSpPr>
        <p:spPr>
          <a:xfrm>
            <a:off x="-566982" y="2810152"/>
            <a:ext cx="4285550" cy="2598625"/>
          </a:xfrm>
          <a:custGeom>
            <a:rect b="b" l="l" r="r" t="t"/>
            <a:pathLst>
              <a:path extrusionOk="0" h="103945" w="171422">
                <a:moveTo>
                  <a:pt x="14392" y="67331"/>
                </a:moveTo>
                <a:cubicBezTo>
                  <a:pt x="19821" y="63997"/>
                  <a:pt x="27775" y="63235"/>
                  <a:pt x="32966" y="63902"/>
                </a:cubicBezTo>
                <a:cubicBezTo>
                  <a:pt x="38157" y="64569"/>
                  <a:pt x="39967" y="69617"/>
                  <a:pt x="45539" y="71331"/>
                </a:cubicBezTo>
                <a:cubicBezTo>
                  <a:pt x="51111" y="73046"/>
                  <a:pt x="60113" y="75142"/>
                  <a:pt x="66399" y="74189"/>
                </a:cubicBezTo>
                <a:cubicBezTo>
                  <a:pt x="72686" y="73237"/>
                  <a:pt x="78019" y="70188"/>
                  <a:pt x="83258" y="65616"/>
                </a:cubicBezTo>
                <a:cubicBezTo>
                  <a:pt x="88497" y="61044"/>
                  <a:pt x="90306" y="51805"/>
                  <a:pt x="97831" y="46757"/>
                </a:cubicBezTo>
                <a:cubicBezTo>
                  <a:pt x="105356" y="41709"/>
                  <a:pt x="119644" y="39899"/>
                  <a:pt x="128407" y="35327"/>
                </a:cubicBezTo>
                <a:cubicBezTo>
                  <a:pt x="137170" y="30755"/>
                  <a:pt x="145647" y="24707"/>
                  <a:pt x="150409" y="19325"/>
                </a:cubicBezTo>
                <a:cubicBezTo>
                  <a:pt x="155172" y="13943"/>
                  <a:pt x="153505" y="4609"/>
                  <a:pt x="156982" y="3037"/>
                </a:cubicBezTo>
                <a:cubicBezTo>
                  <a:pt x="160459" y="1465"/>
                  <a:pt x="170793" y="-5774"/>
                  <a:pt x="171269" y="9895"/>
                </a:cubicBezTo>
                <a:cubicBezTo>
                  <a:pt x="171745" y="25564"/>
                  <a:pt x="171841" y="82285"/>
                  <a:pt x="159839" y="97049"/>
                </a:cubicBezTo>
                <a:cubicBezTo>
                  <a:pt x="147838" y="111813"/>
                  <a:pt x="120882" y="98240"/>
                  <a:pt x="99260" y="98478"/>
                </a:cubicBezTo>
                <a:cubicBezTo>
                  <a:pt x="77638" y="98716"/>
                  <a:pt x="46587" y="100907"/>
                  <a:pt x="30109" y="98478"/>
                </a:cubicBezTo>
                <a:cubicBezTo>
                  <a:pt x="13631" y="96049"/>
                  <a:pt x="3011" y="89095"/>
                  <a:pt x="391" y="83904"/>
                </a:cubicBezTo>
                <a:cubicBezTo>
                  <a:pt x="-2228" y="78713"/>
                  <a:pt x="8963" y="70665"/>
                  <a:pt x="14392" y="6733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6"/>
          <p:cNvSpPr txBox="1"/>
          <p:nvPr/>
        </p:nvSpPr>
        <p:spPr>
          <a:xfrm>
            <a:off x="3663350" y="1140450"/>
            <a:ext cx="5272200" cy="3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What is this project?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Re</a:t>
            </a:r>
            <a:r>
              <a:rPr lang="en-GB" sz="1000">
                <a:solidFill>
                  <a:schemeClr val="dk1"/>
                </a:solidFill>
              </a:rPr>
              <a:t>al-time data collection for temperature, humidity, pressure, wind speed &amp; direction with autonomous operation with local storage and cloud connectivity.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Real-life </a:t>
            </a:r>
            <a:r>
              <a:rPr b="1" lang="en-GB" sz="1200">
                <a:solidFill>
                  <a:schemeClr val="dk1"/>
                </a:solidFill>
              </a:rPr>
              <a:t>Applications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Climate Awareness:</a:t>
            </a:r>
            <a:r>
              <a:rPr lang="en-GB" sz="1000">
                <a:solidFill>
                  <a:schemeClr val="dk1"/>
                </a:solidFill>
              </a:rPr>
              <a:t> Growing need for localized weather data in climate change era;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Precision Agriculture</a:t>
            </a:r>
            <a:r>
              <a:rPr lang="en-GB" sz="1000">
                <a:solidFill>
                  <a:schemeClr val="dk1"/>
                </a:solidFill>
              </a:rPr>
              <a:t>: Need for micro-climate data for optimal crop management;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Research &amp; Education</a:t>
            </a:r>
            <a:r>
              <a:rPr lang="en-GB" sz="1000">
                <a:solidFill>
                  <a:schemeClr val="dk1"/>
                </a:solidFill>
              </a:rPr>
              <a:t>: Accessible platform for meteorological studies.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Technical Highlights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Multi-sensor Integration</a:t>
            </a:r>
            <a:r>
              <a:rPr lang="en-GB" sz="1000">
                <a:solidFill>
                  <a:schemeClr val="dk1"/>
                </a:solidFill>
              </a:rPr>
              <a:t>: BME280 + Custom made wind sensors in unified system;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Dual Data Strategy</a:t>
            </a:r>
            <a:r>
              <a:rPr lang="en-GB" sz="1000">
                <a:solidFill>
                  <a:schemeClr val="dk1"/>
                </a:solidFill>
              </a:rPr>
              <a:t>: Local SD card backup + Cloud MQTT publishing;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Configurable Connectivity</a:t>
            </a:r>
            <a:r>
              <a:rPr lang="en-GB" sz="1000">
                <a:solidFill>
                  <a:schemeClr val="dk1"/>
                </a:solidFill>
              </a:rPr>
              <a:t>: WiFi and MQTT settings via SD card;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Power Failure Resilient</a:t>
            </a:r>
            <a:r>
              <a:rPr lang="en-GB" sz="1000">
                <a:solidFill>
                  <a:schemeClr val="dk1"/>
                </a:solidFill>
              </a:rPr>
              <a:t>: Can be powered by batteries, solar panels and USB-C;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/>
        </p:nvSpPr>
        <p:spPr>
          <a:xfrm>
            <a:off x="3793325" y="411475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Introduction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18" name="Google Shape;118;p27"/>
          <p:cNvPicPr preferRelativeResize="0"/>
          <p:nvPr/>
        </p:nvPicPr>
        <p:blipFill rotWithShape="1">
          <a:blip r:embed="rId3">
            <a:alphaModFix/>
          </a:blip>
          <a:srcRect b="1045" l="13662" r="3836" t="4802"/>
          <a:stretch/>
        </p:blipFill>
        <p:spPr>
          <a:xfrm>
            <a:off x="0" y="0"/>
            <a:ext cx="3393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/>
          <p:nvPr/>
        </p:nvSpPr>
        <p:spPr>
          <a:xfrm>
            <a:off x="-566982" y="2810152"/>
            <a:ext cx="4285550" cy="2598625"/>
          </a:xfrm>
          <a:custGeom>
            <a:rect b="b" l="l" r="r" t="t"/>
            <a:pathLst>
              <a:path extrusionOk="0" h="103945" w="171422">
                <a:moveTo>
                  <a:pt x="14392" y="67331"/>
                </a:moveTo>
                <a:cubicBezTo>
                  <a:pt x="19821" y="63997"/>
                  <a:pt x="27775" y="63235"/>
                  <a:pt x="32966" y="63902"/>
                </a:cubicBezTo>
                <a:cubicBezTo>
                  <a:pt x="38157" y="64569"/>
                  <a:pt x="39967" y="69617"/>
                  <a:pt x="45539" y="71331"/>
                </a:cubicBezTo>
                <a:cubicBezTo>
                  <a:pt x="51111" y="73046"/>
                  <a:pt x="60113" y="75142"/>
                  <a:pt x="66399" y="74189"/>
                </a:cubicBezTo>
                <a:cubicBezTo>
                  <a:pt x="72686" y="73237"/>
                  <a:pt x="78019" y="70188"/>
                  <a:pt x="83258" y="65616"/>
                </a:cubicBezTo>
                <a:cubicBezTo>
                  <a:pt x="88497" y="61044"/>
                  <a:pt x="90306" y="51805"/>
                  <a:pt x="97831" y="46757"/>
                </a:cubicBezTo>
                <a:cubicBezTo>
                  <a:pt x="105356" y="41709"/>
                  <a:pt x="119644" y="39899"/>
                  <a:pt x="128407" y="35327"/>
                </a:cubicBezTo>
                <a:cubicBezTo>
                  <a:pt x="137170" y="30755"/>
                  <a:pt x="145647" y="24707"/>
                  <a:pt x="150409" y="19325"/>
                </a:cubicBezTo>
                <a:cubicBezTo>
                  <a:pt x="155172" y="13943"/>
                  <a:pt x="153505" y="4609"/>
                  <a:pt x="156982" y="3037"/>
                </a:cubicBezTo>
                <a:cubicBezTo>
                  <a:pt x="160459" y="1465"/>
                  <a:pt x="170793" y="-5774"/>
                  <a:pt x="171269" y="9895"/>
                </a:cubicBezTo>
                <a:cubicBezTo>
                  <a:pt x="171745" y="25564"/>
                  <a:pt x="171841" y="82285"/>
                  <a:pt x="159839" y="97049"/>
                </a:cubicBezTo>
                <a:cubicBezTo>
                  <a:pt x="147838" y="111813"/>
                  <a:pt x="120882" y="98240"/>
                  <a:pt x="99260" y="98478"/>
                </a:cubicBezTo>
                <a:cubicBezTo>
                  <a:pt x="77638" y="98716"/>
                  <a:pt x="46587" y="100907"/>
                  <a:pt x="30109" y="98478"/>
                </a:cubicBezTo>
                <a:cubicBezTo>
                  <a:pt x="13631" y="96049"/>
                  <a:pt x="3011" y="89095"/>
                  <a:pt x="391" y="83904"/>
                </a:cubicBezTo>
                <a:cubicBezTo>
                  <a:pt x="-2228" y="78713"/>
                  <a:pt x="8963" y="70665"/>
                  <a:pt x="14392" y="6733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20" name="Google Shape;12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3671900" y="1273675"/>
            <a:ext cx="5000700" cy="3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Problem Statement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Commercial weather stations are expensive ($500+), need for affordable alternatives;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Many areas lack adequate weather monitoring coverage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Our Propositions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Cost-Effective</a:t>
            </a:r>
            <a:r>
              <a:rPr lang="en-GB" sz="1000">
                <a:solidFill>
                  <a:schemeClr val="dk1"/>
                </a:solidFill>
              </a:rPr>
              <a:t>: Fraction of commercial station cost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Open Source</a:t>
            </a:r>
            <a:r>
              <a:rPr lang="en-GB" sz="1000">
                <a:solidFill>
                  <a:schemeClr val="dk1"/>
                </a:solidFill>
              </a:rPr>
              <a:t>: Fully customizable and extensible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Scalable</a:t>
            </a:r>
            <a:r>
              <a:rPr lang="en-GB" sz="1000">
                <a:solidFill>
                  <a:schemeClr val="dk1"/>
                </a:solidFill>
              </a:rPr>
              <a:t>: Easy to deploy multiple units for coverage networks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Target Applications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Agricultural monitoring systems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Weather enthusiast networks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IoT development learning platform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22" name="Google Shape;12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3793325" y="411475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SW &amp; HW Stack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 b="1045" l="13662" r="3836" t="4802"/>
          <a:stretch/>
        </p:blipFill>
        <p:spPr>
          <a:xfrm>
            <a:off x="0" y="0"/>
            <a:ext cx="3393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/>
          <p:nvPr/>
        </p:nvSpPr>
        <p:spPr>
          <a:xfrm>
            <a:off x="-566982" y="2810152"/>
            <a:ext cx="4285550" cy="2598625"/>
          </a:xfrm>
          <a:custGeom>
            <a:rect b="b" l="l" r="r" t="t"/>
            <a:pathLst>
              <a:path extrusionOk="0" h="103945" w="171422">
                <a:moveTo>
                  <a:pt x="14392" y="67331"/>
                </a:moveTo>
                <a:cubicBezTo>
                  <a:pt x="19821" y="63997"/>
                  <a:pt x="27775" y="63235"/>
                  <a:pt x="32966" y="63902"/>
                </a:cubicBezTo>
                <a:cubicBezTo>
                  <a:pt x="38157" y="64569"/>
                  <a:pt x="39967" y="69617"/>
                  <a:pt x="45539" y="71331"/>
                </a:cubicBezTo>
                <a:cubicBezTo>
                  <a:pt x="51111" y="73046"/>
                  <a:pt x="60113" y="75142"/>
                  <a:pt x="66399" y="74189"/>
                </a:cubicBezTo>
                <a:cubicBezTo>
                  <a:pt x="72686" y="73237"/>
                  <a:pt x="78019" y="70188"/>
                  <a:pt x="83258" y="65616"/>
                </a:cubicBezTo>
                <a:cubicBezTo>
                  <a:pt x="88497" y="61044"/>
                  <a:pt x="90306" y="51805"/>
                  <a:pt x="97831" y="46757"/>
                </a:cubicBezTo>
                <a:cubicBezTo>
                  <a:pt x="105356" y="41709"/>
                  <a:pt x="119644" y="39899"/>
                  <a:pt x="128407" y="35327"/>
                </a:cubicBezTo>
                <a:cubicBezTo>
                  <a:pt x="137170" y="30755"/>
                  <a:pt x="145647" y="24707"/>
                  <a:pt x="150409" y="19325"/>
                </a:cubicBezTo>
                <a:cubicBezTo>
                  <a:pt x="155172" y="13943"/>
                  <a:pt x="153505" y="4609"/>
                  <a:pt x="156982" y="3037"/>
                </a:cubicBezTo>
                <a:cubicBezTo>
                  <a:pt x="160459" y="1465"/>
                  <a:pt x="170793" y="-5774"/>
                  <a:pt x="171269" y="9895"/>
                </a:cubicBezTo>
                <a:cubicBezTo>
                  <a:pt x="171745" y="25564"/>
                  <a:pt x="171841" y="82285"/>
                  <a:pt x="159839" y="97049"/>
                </a:cubicBezTo>
                <a:cubicBezTo>
                  <a:pt x="147838" y="111813"/>
                  <a:pt x="120882" y="98240"/>
                  <a:pt x="99260" y="98478"/>
                </a:cubicBezTo>
                <a:cubicBezTo>
                  <a:pt x="77638" y="98716"/>
                  <a:pt x="46587" y="100907"/>
                  <a:pt x="30109" y="98478"/>
                </a:cubicBezTo>
                <a:cubicBezTo>
                  <a:pt x="13631" y="96049"/>
                  <a:pt x="3011" y="89095"/>
                  <a:pt x="391" y="83904"/>
                </a:cubicBezTo>
                <a:cubicBezTo>
                  <a:pt x="-2228" y="78713"/>
                  <a:pt x="8963" y="70665"/>
                  <a:pt x="14392" y="6733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30" name="Google Shape;13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/>
        </p:nvSpPr>
        <p:spPr>
          <a:xfrm>
            <a:off x="3671900" y="1273675"/>
            <a:ext cx="5000700" cy="29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Hardware</a:t>
            </a:r>
            <a:endParaRPr b="1" sz="1200">
              <a:solidFill>
                <a:schemeClr val="dk1"/>
              </a:solidFill>
            </a:endParaRPr>
          </a:p>
          <a:p>
            <a:pPr indent="-158750" lvl="0" marL="269999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ESP32-C3 SoC</a:t>
            </a:r>
            <a:endParaRPr sz="1000">
              <a:solidFill>
                <a:schemeClr val="dk1"/>
              </a:solidFill>
            </a:endParaRPr>
          </a:p>
          <a:p>
            <a:pPr indent="-1587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SPI SD Card Reader</a:t>
            </a:r>
            <a:endParaRPr sz="1000">
              <a:solidFill>
                <a:schemeClr val="dk1"/>
              </a:solidFill>
            </a:endParaRPr>
          </a:p>
          <a:p>
            <a:pPr indent="-1587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A3144 Hall Effect Sensor (latch &amp; non latch variant)</a:t>
            </a:r>
            <a:endParaRPr sz="1000">
              <a:solidFill>
                <a:schemeClr val="dk1"/>
              </a:solidFill>
            </a:endParaRPr>
          </a:p>
          <a:p>
            <a:pPr indent="-1587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18650 </a:t>
            </a:r>
            <a:r>
              <a:rPr lang="en-GB" sz="1000">
                <a:solidFill>
                  <a:schemeClr val="dk1"/>
                </a:solidFill>
              </a:rPr>
              <a:t>Lithium</a:t>
            </a:r>
            <a:r>
              <a:rPr lang="en-GB" sz="1000">
                <a:solidFill>
                  <a:schemeClr val="dk1"/>
                </a:solidFill>
              </a:rPr>
              <a:t> Battery UPS module</a:t>
            </a:r>
            <a:endParaRPr sz="1000">
              <a:solidFill>
                <a:schemeClr val="dk1"/>
              </a:solidFill>
            </a:endParaRPr>
          </a:p>
          <a:p>
            <a:pPr indent="-1587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BME280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Software</a:t>
            </a:r>
            <a:endParaRPr b="1" sz="12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ESP-IDF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FreeRTOS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MQTT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WiFi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Grafana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32" name="Google Shape;132;p28"/>
          <p:cNvPicPr preferRelativeResize="0"/>
          <p:nvPr/>
        </p:nvPicPr>
        <p:blipFill rotWithShape="1">
          <a:blip r:embed="rId5">
            <a:alphaModFix/>
          </a:blip>
          <a:srcRect b="8092" l="5709" r="6193" t="8567"/>
          <a:stretch/>
        </p:blipFill>
        <p:spPr>
          <a:xfrm>
            <a:off x="7037200" y="1050788"/>
            <a:ext cx="1321600" cy="125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8"/>
          <p:cNvPicPr preferRelativeResize="0"/>
          <p:nvPr/>
        </p:nvPicPr>
        <p:blipFill rotWithShape="1">
          <a:blip r:embed="rId6">
            <a:alphaModFix/>
          </a:blip>
          <a:srcRect b="10525" l="24562" r="21158" t="5877"/>
          <a:stretch/>
        </p:blipFill>
        <p:spPr>
          <a:xfrm>
            <a:off x="7770525" y="1853888"/>
            <a:ext cx="1373474" cy="126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8"/>
          <p:cNvPicPr preferRelativeResize="0"/>
          <p:nvPr/>
        </p:nvPicPr>
        <p:blipFill rotWithShape="1">
          <a:blip r:embed="rId7">
            <a:alphaModFix/>
          </a:blip>
          <a:srcRect b="22451" l="28803" r="31665" t="0"/>
          <a:stretch/>
        </p:blipFill>
        <p:spPr>
          <a:xfrm>
            <a:off x="6859065" y="2290575"/>
            <a:ext cx="646934" cy="12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8"/>
          <p:cNvPicPr preferRelativeResize="0"/>
          <p:nvPr/>
        </p:nvPicPr>
        <p:blipFill rotWithShape="1">
          <a:blip r:embed="rId8">
            <a:alphaModFix/>
          </a:blip>
          <a:srcRect b="17825" l="11060" r="10329" t="19589"/>
          <a:stretch/>
        </p:blipFill>
        <p:spPr>
          <a:xfrm>
            <a:off x="6859075" y="3559698"/>
            <a:ext cx="1321600" cy="1052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8"/>
          <p:cNvPicPr preferRelativeResize="0"/>
          <p:nvPr/>
        </p:nvPicPr>
        <p:blipFill rotWithShape="1">
          <a:blip r:embed="rId9">
            <a:alphaModFix/>
          </a:blip>
          <a:srcRect b="14862" l="0" r="0" t="19027"/>
          <a:stretch/>
        </p:blipFill>
        <p:spPr>
          <a:xfrm rot="2214450">
            <a:off x="7559253" y="3071696"/>
            <a:ext cx="941718" cy="622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9" title="System Architecture-Hardware Arch - Apresentação(1).png"/>
          <p:cNvPicPr preferRelativeResize="0"/>
          <p:nvPr/>
        </p:nvPicPr>
        <p:blipFill rotWithShape="1">
          <a:blip r:embed="rId3">
            <a:alphaModFix/>
          </a:blip>
          <a:srcRect b="0" l="-2667" r="72" t="0"/>
          <a:stretch/>
        </p:blipFill>
        <p:spPr>
          <a:xfrm>
            <a:off x="911900" y="335750"/>
            <a:ext cx="7047450" cy="463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9"/>
          <p:cNvSpPr txBox="1"/>
          <p:nvPr/>
        </p:nvSpPr>
        <p:spPr>
          <a:xfrm>
            <a:off x="3457350" y="415650"/>
            <a:ext cx="22293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Hardware Architecture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/>
        </p:nvSpPr>
        <p:spPr>
          <a:xfrm>
            <a:off x="3282450" y="408500"/>
            <a:ext cx="2579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Custom-Made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Sensors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650" y="1314125"/>
            <a:ext cx="1737361" cy="11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225" y="2770175"/>
            <a:ext cx="1618191" cy="126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0"/>
          <p:cNvPicPr preferRelativeResize="0"/>
          <p:nvPr/>
        </p:nvPicPr>
        <p:blipFill rotWithShape="1">
          <a:blip r:embed="rId5">
            <a:alphaModFix/>
          </a:blip>
          <a:srcRect b="29970" l="42601" r="42385" t="26253"/>
          <a:stretch/>
        </p:blipFill>
        <p:spPr>
          <a:xfrm>
            <a:off x="3618964" y="2982011"/>
            <a:ext cx="268108" cy="78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 rotWithShape="1">
          <a:blip r:embed="rId5">
            <a:alphaModFix/>
          </a:blip>
          <a:srcRect b="29970" l="42601" r="42385" t="26253"/>
          <a:stretch/>
        </p:blipFill>
        <p:spPr>
          <a:xfrm rot="-5400000">
            <a:off x="4268056" y="2372901"/>
            <a:ext cx="268108" cy="781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0"/>
          <p:cNvPicPr preferRelativeResize="0"/>
          <p:nvPr/>
        </p:nvPicPr>
        <p:blipFill rotWithShape="1">
          <a:blip r:embed="rId5">
            <a:alphaModFix/>
          </a:blip>
          <a:srcRect b="29970" l="42601" r="42385" t="26253"/>
          <a:stretch/>
        </p:blipFill>
        <p:spPr>
          <a:xfrm rot="10800000">
            <a:off x="3618957" y="1688524"/>
            <a:ext cx="268108" cy="78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0"/>
          <p:cNvPicPr preferRelativeResize="0"/>
          <p:nvPr/>
        </p:nvPicPr>
        <p:blipFill rotWithShape="1">
          <a:blip r:embed="rId5">
            <a:alphaModFix/>
          </a:blip>
          <a:srcRect b="29970" l="42601" r="42385" t="26253"/>
          <a:stretch/>
        </p:blipFill>
        <p:spPr>
          <a:xfrm rot="5400000">
            <a:off x="2969865" y="2297633"/>
            <a:ext cx="268108" cy="7817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30"/>
          <p:cNvGrpSpPr/>
          <p:nvPr/>
        </p:nvGrpSpPr>
        <p:grpSpPr>
          <a:xfrm>
            <a:off x="3329195" y="2331901"/>
            <a:ext cx="809735" cy="781645"/>
            <a:chOff x="4188025" y="2520025"/>
            <a:chExt cx="978650" cy="944700"/>
          </a:xfrm>
        </p:grpSpPr>
        <p:sp>
          <p:nvSpPr>
            <p:cNvPr id="157" name="Google Shape;157;p30"/>
            <p:cNvSpPr/>
            <p:nvPr/>
          </p:nvSpPr>
          <p:spPr>
            <a:xfrm>
              <a:off x="4221975" y="2520025"/>
              <a:ext cx="944700" cy="944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0"/>
            <p:cNvSpPr/>
            <p:nvPr/>
          </p:nvSpPr>
          <p:spPr>
            <a:xfrm>
              <a:off x="4188025" y="2679850"/>
              <a:ext cx="200100" cy="200100"/>
            </a:xfrm>
            <a:prstGeom prst="ellipse">
              <a:avLst/>
            </a:prstGeom>
            <a:solidFill>
              <a:srgbClr val="AFAFA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30"/>
          <p:cNvSpPr txBox="1"/>
          <p:nvPr/>
        </p:nvSpPr>
        <p:spPr>
          <a:xfrm>
            <a:off x="3600068" y="1386688"/>
            <a:ext cx="268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4792986" y="2570105"/>
            <a:ext cx="268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2407150" y="2487013"/>
            <a:ext cx="268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600068" y="3694239"/>
            <a:ext cx="268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5">
            <a:alphaModFix/>
          </a:blip>
          <a:srcRect b="29970" l="42601" r="42385" t="26253"/>
          <a:stretch/>
        </p:blipFill>
        <p:spPr>
          <a:xfrm>
            <a:off x="6216889" y="2912499"/>
            <a:ext cx="268108" cy="781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30"/>
          <p:cNvGrpSpPr/>
          <p:nvPr/>
        </p:nvGrpSpPr>
        <p:grpSpPr>
          <a:xfrm>
            <a:off x="5927120" y="2262389"/>
            <a:ext cx="809735" cy="781645"/>
            <a:chOff x="4188025" y="2520025"/>
            <a:chExt cx="978650" cy="944700"/>
          </a:xfrm>
        </p:grpSpPr>
        <p:sp>
          <p:nvSpPr>
            <p:cNvPr id="165" name="Google Shape;165;p30"/>
            <p:cNvSpPr/>
            <p:nvPr/>
          </p:nvSpPr>
          <p:spPr>
            <a:xfrm>
              <a:off x="4221975" y="2520025"/>
              <a:ext cx="944700" cy="944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4188025" y="2679850"/>
              <a:ext cx="200100" cy="200100"/>
            </a:xfrm>
            <a:prstGeom prst="ellipse">
              <a:avLst/>
            </a:prstGeom>
            <a:solidFill>
              <a:srgbClr val="AFAFA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0"/>
          <p:cNvSpPr txBox="1"/>
          <p:nvPr/>
        </p:nvSpPr>
        <p:spPr>
          <a:xfrm>
            <a:off x="2889449" y="1917725"/>
            <a:ext cx="550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NW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30"/>
          <p:cNvSpPr txBox="1"/>
          <p:nvPr/>
        </p:nvSpPr>
        <p:spPr>
          <a:xfrm>
            <a:off x="4126999" y="1961050"/>
            <a:ext cx="550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4193674" y="3185013"/>
            <a:ext cx="550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2889449" y="3254538"/>
            <a:ext cx="550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SW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1" name="Google Shape;171;p30"/>
          <p:cNvGrpSpPr/>
          <p:nvPr/>
        </p:nvGrpSpPr>
        <p:grpSpPr>
          <a:xfrm rot="10800000">
            <a:off x="5927120" y="2262389"/>
            <a:ext cx="809735" cy="781645"/>
            <a:chOff x="4188025" y="2520025"/>
            <a:chExt cx="978650" cy="944700"/>
          </a:xfrm>
        </p:grpSpPr>
        <p:sp>
          <p:nvSpPr>
            <p:cNvPr id="172" name="Google Shape;172;p30"/>
            <p:cNvSpPr/>
            <p:nvPr/>
          </p:nvSpPr>
          <p:spPr>
            <a:xfrm>
              <a:off x="4221975" y="2520025"/>
              <a:ext cx="944700" cy="9447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4188025" y="2679850"/>
              <a:ext cx="200100" cy="200100"/>
            </a:xfrm>
            <a:prstGeom prst="ellipse">
              <a:avLst/>
            </a:prstGeom>
            <a:solidFill>
              <a:srgbClr val="AFAFA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4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4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1" title="System Architecture-Hardware - Apresentação(1).png"/>
          <p:cNvPicPr preferRelativeResize="0"/>
          <p:nvPr/>
        </p:nvPicPr>
        <p:blipFill rotWithShape="1">
          <a:blip r:embed="rId3">
            <a:alphaModFix/>
          </a:blip>
          <a:srcRect b="0" l="-798" r="-1483" t="0"/>
          <a:stretch/>
        </p:blipFill>
        <p:spPr>
          <a:xfrm>
            <a:off x="1037375" y="335750"/>
            <a:ext cx="7031598" cy="463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1"/>
          <p:cNvSpPr txBox="1"/>
          <p:nvPr/>
        </p:nvSpPr>
        <p:spPr>
          <a:xfrm>
            <a:off x="3457350" y="415650"/>
            <a:ext cx="22293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Electrical</a:t>
            </a: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 Schematic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/>
        </p:nvSpPr>
        <p:spPr>
          <a:xfrm>
            <a:off x="2419200" y="236250"/>
            <a:ext cx="4305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Software</a:t>
            </a: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 Architecture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87" name="Google Shape;187;p32" title="System Architecture-Softw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187" y="855350"/>
            <a:ext cx="5189627" cy="42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3"/>
          <p:cNvPicPr preferRelativeResize="0"/>
          <p:nvPr/>
        </p:nvPicPr>
        <p:blipFill rotWithShape="1">
          <a:blip r:embed="rId3">
            <a:alphaModFix/>
          </a:blip>
          <a:srcRect b="24586" l="13689" r="0" t="9905"/>
          <a:stretch/>
        </p:blipFill>
        <p:spPr>
          <a:xfrm>
            <a:off x="742975" y="1385875"/>
            <a:ext cx="7658076" cy="336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/>
          <p:nvPr/>
        </p:nvSpPr>
        <p:spPr>
          <a:xfrm>
            <a:off x="0" y="0"/>
            <a:ext cx="9144000" cy="1386000"/>
          </a:xfrm>
          <a:prstGeom prst="rect">
            <a:avLst/>
          </a:prstGeom>
          <a:solidFill>
            <a:srgbClr val="111217"/>
          </a:solidFill>
          <a:ln cap="flat" cmpd="sng" w="9525">
            <a:solidFill>
              <a:srgbClr val="1112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/>
          <p:nvPr/>
        </p:nvSpPr>
        <p:spPr>
          <a:xfrm>
            <a:off x="0" y="4557725"/>
            <a:ext cx="9144000" cy="585900"/>
          </a:xfrm>
          <a:prstGeom prst="rect">
            <a:avLst/>
          </a:prstGeom>
          <a:solidFill>
            <a:srgbClr val="111217"/>
          </a:solidFill>
          <a:ln cap="flat" cmpd="sng" w="9525">
            <a:solidFill>
              <a:srgbClr val="1112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3"/>
          <p:cNvSpPr/>
          <p:nvPr/>
        </p:nvSpPr>
        <p:spPr>
          <a:xfrm>
            <a:off x="8401050" y="276125"/>
            <a:ext cx="743100" cy="4281600"/>
          </a:xfrm>
          <a:prstGeom prst="rect">
            <a:avLst/>
          </a:prstGeom>
          <a:solidFill>
            <a:srgbClr val="111217"/>
          </a:solidFill>
          <a:ln cap="flat" cmpd="sng" w="9525">
            <a:solidFill>
              <a:srgbClr val="1112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/>
          <p:nvPr/>
        </p:nvSpPr>
        <p:spPr>
          <a:xfrm>
            <a:off x="0" y="430950"/>
            <a:ext cx="743100" cy="4281600"/>
          </a:xfrm>
          <a:prstGeom prst="rect">
            <a:avLst/>
          </a:prstGeom>
          <a:solidFill>
            <a:srgbClr val="111217"/>
          </a:solidFill>
          <a:ln cap="flat" cmpd="sng" w="9525">
            <a:solidFill>
              <a:srgbClr val="1112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 rotWithShape="1">
          <a:blip r:embed="rId4">
            <a:alphaModFix/>
          </a:blip>
          <a:srcRect b="70602" l="51360" r="38831" t="21759"/>
          <a:stretch/>
        </p:blipFill>
        <p:spPr>
          <a:xfrm>
            <a:off x="4088471" y="1989040"/>
            <a:ext cx="845773" cy="38124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3"/>
          <p:cNvSpPr txBox="1"/>
          <p:nvPr/>
        </p:nvSpPr>
        <p:spPr>
          <a:xfrm>
            <a:off x="2187563" y="528600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lt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Demo</a:t>
            </a:r>
            <a:endParaRPr sz="3500">
              <a:solidFill>
                <a:schemeClr val="lt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/>
        </p:nvSpPr>
        <p:spPr>
          <a:xfrm>
            <a:off x="3793325" y="411475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Battery Consumption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06" name="Google Shape;206;p34"/>
          <p:cNvPicPr preferRelativeResize="0"/>
          <p:nvPr/>
        </p:nvPicPr>
        <p:blipFill rotWithShape="1">
          <a:blip r:embed="rId3">
            <a:alphaModFix/>
          </a:blip>
          <a:srcRect b="1045" l="13662" r="3836" t="4802"/>
          <a:stretch/>
        </p:blipFill>
        <p:spPr>
          <a:xfrm>
            <a:off x="0" y="0"/>
            <a:ext cx="3393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4"/>
          <p:cNvSpPr/>
          <p:nvPr/>
        </p:nvSpPr>
        <p:spPr>
          <a:xfrm>
            <a:off x="-566982" y="2810152"/>
            <a:ext cx="4285550" cy="2598625"/>
          </a:xfrm>
          <a:custGeom>
            <a:rect b="b" l="l" r="r" t="t"/>
            <a:pathLst>
              <a:path extrusionOk="0" h="103945" w="171422">
                <a:moveTo>
                  <a:pt x="14392" y="67331"/>
                </a:moveTo>
                <a:cubicBezTo>
                  <a:pt x="19821" y="63997"/>
                  <a:pt x="27775" y="63235"/>
                  <a:pt x="32966" y="63902"/>
                </a:cubicBezTo>
                <a:cubicBezTo>
                  <a:pt x="38157" y="64569"/>
                  <a:pt x="39967" y="69617"/>
                  <a:pt x="45539" y="71331"/>
                </a:cubicBezTo>
                <a:cubicBezTo>
                  <a:pt x="51111" y="73046"/>
                  <a:pt x="60113" y="75142"/>
                  <a:pt x="66399" y="74189"/>
                </a:cubicBezTo>
                <a:cubicBezTo>
                  <a:pt x="72686" y="73237"/>
                  <a:pt x="78019" y="70188"/>
                  <a:pt x="83258" y="65616"/>
                </a:cubicBezTo>
                <a:cubicBezTo>
                  <a:pt x="88497" y="61044"/>
                  <a:pt x="90306" y="51805"/>
                  <a:pt x="97831" y="46757"/>
                </a:cubicBezTo>
                <a:cubicBezTo>
                  <a:pt x="105356" y="41709"/>
                  <a:pt x="119644" y="39899"/>
                  <a:pt x="128407" y="35327"/>
                </a:cubicBezTo>
                <a:cubicBezTo>
                  <a:pt x="137170" y="30755"/>
                  <a:pt x="145647" y="24707"/>
                  <a:pt x="150409" y="19325"/>
                </a:cubicBezTo>
                <a:cubicBezTo>
                  <a:pt x="155172" y="13943"/>
                  <a:pt x="153505" y="4609"/>
                  <a:pt x="156982" y="3037"/>
                </a:cubicBezTo>
                <a:cubicBezTo>
                  <a:pt x="160459" y="1465"/>
                  <a:pt x="170793" y="-5774"/>
                  <a:pt x="171269" y="9895"/>
                </a:cubicBezTo>
                <a:cubicBezTo>
                  <a:pt x="171745" y="25564"/>
                  <a:pt x="171841" y="82285"/>
                  <a:pt x="159839" y="97049"/>
                </a:cubicBezTo>
                <a:cubicBezTo>
                  <a:pt x="147838" y="111813"/>
                  <a:pt x="120882" y="98240"/>
                  <a:pt x="99260" y="98478"/>
                </a:cubicBezTo>
                <a:cubicBezTo>
                  <a:pt x="77638" y="98716"/>
                  <a:pt x="46587" y="100907"/>
                  <a:pt x="30109" y="98478"/>
                </a:cubicBezTo>
                <a:cubicBezTo>
                  <a:pt x="13631" y="96049"/>
                  <a:pt x="3011" y="89095"/>
                  <a:pt x="391" y="83904"/>
                </a:cubicBezTo>
                <a:cubicBezTo>
                  <a:pt x="-2228" y="78713"/>
                  <a:pt x="8963" y="70665"/>
                  <a:pt x="14392" y="6733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08" name="Google Shape;20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4"/>
          <p:cNvSpPr txBox="1"/>
          <p:nvPr/>
        </p:nvSpPr>
        <p:spPr>
          <a:xfrm>
            <a:off x="3671900" y="1273675"/>
            <a:ext cx="35166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Power Draw: 0.35W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Current Draw: 0.35W / 5V = 0.07A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Using two cells with 2200 mAh each, in parallel, we get 4400 mAh.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Battery life: 4400 mAh / 70 mA = 62.86 hours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 rotWithShape="1">
          <a:blip r:embed="rId5">
            <a:alphaModFix/>
          </a:blip>
          <a:srcRect b="8092" l="5709" r="6193" t="8567"/>
          <a:stretch/>
        </p:blipFill>
        <p:spPr>
          <a:xfrm>
            <a:off x="7265800" y="1050788"/>
            <a:ext cx="1321600" cy="125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4"/>
          <p:cNvPicPr preferRelativeResize="0"/>
          <p:nvPr/>
        </p:nvPicPr>
        <p:blipFill rotWithShape="1">
          <a:blip r:embed="rId6">
            <a:alphaModFix/>
          </a:blip>
          <a:srcRect b="10525" l="24562" r="21158" t="5877"/>
          <a:stretch/>
        </p:blipFill>
        <p:spPr>
          <a:xfrm>
            <a:off x="7999125" y="1853888"/>
            <a:ext cx="1373474" cy="126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4"/>
          <p:cNvPicPr preferRelativeResize="0"/>
          <p:nvPr/>
        </p:nvPicPr>
        <p:blipFill rotWithShape="1">
          <a:blip r:embed="rId7">
            <a:alphaModFix/>
          </a:blip>
          <a:srcRect b="22451" l="28803" r="31665" t="0"/>
          <a:stretch/>
        </p:blipFill>
        <p:spPr>
          <a:xfrm>
            <a:off x="7087665" y="2290575"/>
            <a:ext cx="646934" cy="12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4"/>
          <p:cNvPicPr preferRelativeResize="0"/>
          <p:nvPr/>
        </p:nvPicPr>
        <p:blipFill rotWithShape="1">
          <a:blip r:embed="rId8">
            <a:alphaModFix/>
          </a:blip>
          <a:srcRect b="17825" l="11060" r="10329" t="19589"/>
          <a:stretch/>
        </p:blipFill>
        <p:spPr>
          <a:xfrm>
            <a:off x="7087675" y="3559698"/>
            <a:ext cx="1321600" cy="1052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4"/>
          <p:cNvPicPr preferRelativeResize="0"/>
          <p:nvPr/>
        </p:nvPicPr>
        <p:blipFill rotWithShape="1">
          <a:blip r:embed="rId9">
            <a:alphaModFix/>
          </a:blip>
          <a:srcRect b="14862" l="0" r="0" t="19027"/>
          <a:stretch/>
        </p:blipFill>
        <p:spPr>
          <a:xfrm rot="2214450">
            <a:off x="7787853" y="3071696"/>
            <a:ext cx="941718" cy="62258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/>
        </p:nvSpPr>
        <p:spPr>
          <a:xfrm>
            <a:off x="3793325" y="411475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Future Work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21" name="Google Shape;221;p35"/>
          <p:cNvPicPr preferRelativeResize="0"/>
          <p:nvPr/>
        </p:nvPicPr>
        <p:blipFill rotWithShape="1">
          <a:blip r:embed="rId3">
            <a:alphaModFix/>
          </a:blip>
          <a:srcRect b="1045" l="13662" r="3836" t="4802"/>
          <a:stretch/>
        </p:blipFill>
        <p:spPr>
          <a:xfrm>
            <a:off x="0" y="0"/>
            <a:ext cx="3393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/>
          <p:nvPr/>
        </p:nvSpPr>
        <p:spPr>
          <a:xfrm>
            <a:off x="-566982" y="2810152"/>
            <a:ext cx="4285550" cy="2598625"/>
          </a:xfrm>
          <a:custGeom>
            <a:rect b="b" l="l" r="r" t="t"/>
            <a:pathLst>
              <a:path extrusionOk="0" h="103945" w="171422">
                <a:moveTo>
                  <a:pt x="14392" y="67331"/>
                </a:moveTo>
                <a:cubicBezTo>
                  <a:pt x="19821" y="63997"/>
                  <a:pt x="27775" y="63235"/>
                  <a:pt x="32966" y="63902"/>
                </a:cubicBezTo>
                <a:cubicBezTo>
                  <a:pt x="38157" y="64569"/>
                  <a:pt x="39967" y="69617"/>
                  <a:pt x="45539" y="71331"/>
                </a:cubicBezTo>
                <a:cubicBezTo>
                  <a:pt x="51111" y="73046"/>
                  <a:pt x="60113" y="75142"/>
                  <a:pt x="66399" y="74189"/>
                </a:cubicBezTo>
                <a:cubicBezTo>
                  <a:pt x="72686" y="73237"/>
                  <a:pt x="78019" y="70188"/>
                  <a:pt x="83258" y="65616"/>
                </a:cubicBezTo>
                <a:cubicBezTo>
                  <a:pt x="88497" y="61044"/>
                  <a:pt x="90306" y="51805"/>
                  <a:pt x="97831" y="46757"/>
                </a:cubicBezTo>
                <a:cubicBezTo>
                  <a:pt x="105356" y="41709"/>
                  <a:pt x="119644" y="39899"/>
                  <a:pt x="128407" y="35327"/>
                </a:cubicBezTo>
                <a:cubicBezTo>
                  <a:pt x="137170" y="30755"/>
                  <a:pt x="145647" y="24707"/>
                  <a:pt x="150409" y="19325"/>
                </a:cubicBezTo>
                <a:cubicBezTo>
                  <a:pt x="155172" y="13943"/>
                  <a:pt x="153505" y="4609"/>
                  <a:pt x="156982" y="3037"/>
                </a:cubicBezTo>
                <a:cubicBezTo>
                  <a:pt x="160459" y="1465"/>
                  <a:pt x="170793" y="-5774"/>
                  <a:pt x="171269" y="9895"/>
                </a:cubicBezTo>
                <a:cubicBezTo>
                  <a:pt x="171745" y="25564"/>
                  <a:pt x="171841" y="82285"/>
                  <a:pt x="159839" y="97049"/>
                </a:cubicBezTo>
                <a:cubicBezTo>
                  <a:pt x="147838" y="111813"/>
                  <a:pt x="120882" y="98240"/>
                  <a:pt x="99260" y="98478"/>
                </a:cubicBezTo>
                <a:cubicBezTo>
                  <a:pt x="77638" y="98716"/>
                  <a:pt x="46587" y="100907"/>
                  <a:pt x="30109" y="98478"/>
                </a:cubicBezTo>
                <a:cubicBezTo>
                  <a:pt x="13631" y="96049"/>
                  <a:pt x="3011" y="89095"/>
                  <a:pt x="391" y="83904"/>
                </a:cubicBezTo>
                <a:cubicBezTo>
                  <a:pt x="-2228" y="78713"/>
                  <a:pt x="8963" y="70665"/>
                  <a:pt x="14392" y="6733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23" name="Google Shape;22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/>
        </p:nvSpPr>
        <p:spPr>
          <a:xfrm>
            <a:off x="3671900" y="1273675"/>
            <a:ext cx="3516600" cy="21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Hardware</a:t>
            </a:r>
            <a:endParaRPr b="1" sz="12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Get the battery level reading from the UPS module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Modularize the sensors (ATtiny)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Improve the building quality of the custom-made sensors (weight, friction)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Software</a:t>
            </a:r>
            <a:endParaRPr b="1" sz="12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Energy management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Wind direction </a:t>
            </a:r>
            <a:r>
              <a:rPr lang="en-GB" sz="1000">
                <a:solidFill>
                  <a:schemeClr val="dk1"/>
                </a:solidFill>
              </a:rPr>
              <a:t>sensor</a:t>
            </a:r>
            <a:r>
              <a:rPr lang="en-GB" sz="1000">
                <a:solidFill>
                  <a:schemeClr val="dk1"/>
                </a:solidFill>
              </a:rPr>
              <a:t> self-calibration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Troubleshoot WiFi issues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25" name="Google Shape;225;p35"/>
          <p:cNvPicPr preferRelativeResize="0"/>
          <p:nvPr/>
        </p:nvPicPr>
        <p:blipFill rotWithShape="1">
          <a:blip r:embed="rId5">
            <a:alphaModFix/>
          </a:blip>
          <a:srcRect b="8092" l="5709" r="6193" t="8567"/>
          <a:stretch/>
        </p:blipFill>
        <p:spPr>
          <a:xfrm>
            <a:off x="7265800" y="1050788"/>
            <a:ext cx="1321600" cy="125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 rotWithShape="1">
          <a:blip r:embed="rId6">
            <a:alphaModFix/>
          </a:blip>
          <a:srcRect b="10525" l="24562" r="21158" t="5877"/>
          <a:stretch/>
        </p:blipFill>
        <p:spPr>
          <a:xfrm>
            <a:off x="7999125" y="1853888"/>
            <a:ext cx="1373474" cy="126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7">
            <a:alphaModFix/>
          </a:blip>
          <a:srcRect b="22451" l="28803" r="31665" t="0"/>
          <a:stretch/>
        </p:blipFill>
        <p:spPr>
          <a:xfrm>
            <a:off x="7087665" y="2290575"/>
            <a:ext cx="646934" cy="12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8">
            <a:alphaModFix/>
          </a:blip>
          <a:srcRect b="17825" l="11060" r="10329" t="19589"/>
          <a:stretch/>
        </p:blipFill>
        <p:spPr>
          <a:xfrm>
            <a:off x="7087675" y="3559698"/>
            <a:ext cx="1321600" cy="1052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5"/>
          <p:cNvPicPr preferRelativeResize="0"/>
          <p:nvPr/>
        </p:nvPicPr>
        <p:blipFill rotWithShape="1">
          <a:blip r:embed="rId9">
            <a:alphaModFix/>
          </a:blip>
          <a:srcRect b="14862" l="0" r="0" t="19027"/>
          <a:stretch/>
        </p:blipFill>
        <p:spPr>
          <a:xfrm rot="2214450">
            <a:off x="7787853" y="3071696"/>
            <a:ext cx="941718" cy="62258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/>
        </p:nvSpPr>
        <p:spPr>
          <a:xfrm>
            <a:off x="3793325" y="411475"/>
            <a:ext cx="4647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Sources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36" name="Google Shape;236;p36"/>
          <p:cNvPicPr preferRelativeResize="0"/>
          <p:nvPr/>
        </p:nvPicPr>
        <p:blipFill rotWithShape="1">
          <a:blip r:embed="rId3">
            <a:alphaModFix/>
          </a:blip>
          <a:srcRect b="1045" l="13662" r="3836" t="4802"/>
          <a:stretch/>
        </p:blipFill>
        <p:spPr>
          <a:xfrm>
            <a:off x="0" y="0"/>
            <a:ext cx="3393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6"/>
          <p:cNvSpPr/>
          <p:nvPr/>
        </p:nvSpPr>
        <p:spPr>
          <a:xfrm>
            <a:off x="-566982" y="2810152"/>
            <a:ext cx="4285550" cy="2598625"/>
          </a:xfrm>
          <a:custGeom>
            <a:rect b="b" l="l" r="r" t="t"/>
            <a:pathLst>
              <a:path extrusionOk="0" h="103945" w="171422">
                <a:moveTo>
                  <a:pt x="14392" y="67331"/>
                </a:moveTo>
                <a:cubicBezTo>
                  <a:pt x="19821" y="63997"/>
                  <a:pt x="27775" y="63235"/>
                  <a:pt x="32966" y="63902"/>
                </a:cubicBezTo>
                <a:cubicBezTo>
                  <a:pt x="38157" y="64569"/>
                  <a:pt x="39967" y="69617"/>
                  <a:pt x="45539" y="71331"/>
                </a:cubicBezTo>
                <a:cubicBezTo>
                  <a:pt x="51111" y="73046"/>
                  <a:pt x="60113" y="75142"/>
                  <a:pt x="66399" y="74189"/>
                </a:cubicBezTo>
                <a:cubicBezTo>
                  <a:pt x="72686" y="73237"/>
                  <a:pt x="78019" y="70188"/>
                  <a:pt x="83258" y="65616"/>
                </a:cubicBezTo>
                <a:cubicBezTo>
                  <a:pt x="88497" y="61044"/>
                  <a:pt x="90306" y="51805"/>
                  <a:pt x="97831" y="46757"/>
                </a:cubicBezTo>
                <a:cubicBezTo>
                  <a:pt x="105356" y="41709"/>
                  <a:pt x="119644" y="39899"/>
                  <a:pt x="128407" y="35327"/>
                </a:cubicBezTo>
                <a:cubicBezTo>
                  <a:pt x="137170" y="30755"/>
                  <a:pt x="145647" y="24707"/>
                  <a:pt x="150409" y="19325"/>
                </a:cubicBezTo>
                <a:cubicBezTo>
                  <a:pt x="155172" y="13943"/>
                  <a:pt x="153505" y="4609"/>
                  <a:pt x="156982" y="3037"/>
                </a:cubicBezTo>
                <a:cubicBezTo>
                  <a:pt x="160459" y="1465"/>
                  <a:pt x="170793" y="-5774"/>
                  <a:pt x="171269" y="9895"/>
                </a:cubicBezTo>
                <a:cubicBezTo>
                  <a:pt x="171745" y="25564"/>
                  <a:pt x="171841" y="82285"/>
                  <a:pt x="159839" y="97049"/>
                </a:cubicBezTo>
                <a:cubicBezTo>
                  <a:pt x="147838" y="111813"/>
                  <a:pt x="120882" y="98240"/>
                  <a:pt x="99260" y="98478"/>
                </a:cubicBezTo>
                <a:cubicBezTo>
                  <a:pt x="77638" y="98716"/>
                  <a:pt x="46587" y="100907"/>
                  <a:pt x="30109" y="98478"/>
                </a:cubicBezTo>
                <a:cubicBezTo>
                  <a:pt x="13631" y="96049"/>
                  <a:pt x="3011" y="89095"/>
                  <a:pt x="391" y="83904"/>
                </a:cubicBezTo>
                <a:cubicBezTo>
                  <a:pt x="-2228" y="78713"/>
                  <a:pt x="8963" y="70665"/>
                  <a:pt x="14392" y="67331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38" name="Google Shape;23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 txBox="1"/>
          <p:nvPr/>
        </p:nvSpPr>
        <p:spPr>
          <a:xfrm>
            <a:off x="3671900" y="2264275"/>
            <a:ext cx="3516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ESP-IDF Documentation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Lab classes exercices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Components datasheet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5">
            <a:alphaModFix/>
          </a:blip>
          <a:srcRect b="8092" l="5709" r="6193" t="8567"/>
          <a:stretch/>
        </p:blipFill>
        <p:spPr>
          <a:xfrm>
            <a:off x="7265800" y="1050788"/>
            <a:ext cx="1321600" cy="125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/>
          <p:cNvPicPr preferRelativeResize="0"/>
          <p:nvPr/>
        </p:nvPicPr>
        <p:blipFill rotWithShape="1">
          <a:blip r:embed="rId6">
            <a:alphaModFix/>
          </a:blip>
          <a:srcRect b="10525" l="24562" r="21158" t="5877"/>
          <a:stretch/>
        </p:blipFill>
        <p:spPr>
          <a:xfrm>
            <a:off x="7999125" y="1853888"/>
            <a:ext cx="1373474" cy="126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6"/>
          <p:cNvPicPr preferRelativeResize="0"/>
          <p:nvPr/>
        </p:nvPicPr>
        <p:blipFill rotWithShape="1">
          <a:blip r:embed="rId7">
            <a:alphaModFix/>
          </a:blip>
          <a:srcRect b="22451" l="28803" r="31665" t="0"/>
          <a:stretch/>
        </p:blipFill>
        <p:spPr>
          <a:xfrm>
            <a:off x="7087665" y="2290575"/>
            <a:ext cx="646934" cy="12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6"/>
          <p:cNvPicPr preferRelativeResize="0"/>
          <p:nvPr/>
        </p:nvPicPr>
        <p:blipFill rotWithShape="1">
          <a:blip r:embed="rId8">
            <a:alphaModFix/>
          </a:blip>
          <a:srcRect b="17825" l="11060" r="10329" t="19589"/>
          <a:stretch/>
        </p:blipFill>
        <p:spPr>
          <a:xfrm>
            <a:off x="7087675" y="3559698"/>
            <a:ext cx="1321600" cy="1052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6"/>
          <p:cNvPicPr preferRelativeResize="0"/>
          <p:nvPr/>
        </p:nvPicPr>
        <p:blipFill rotWithShape="1">
          <a:blip r:embed="rId9">
            <a:alphaModFix/>
          </a:blip>
          <a:srcRect b="14862" l="0" r="0" t="19027"/>
          <a:stretch/>
        </p:blipFill>
        <p:spPr>
          <a:xfrm rot="2214450">
            <a:off x="7787853" y="3071696"/>
            <a:ext cx="941718" cy="622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637575" y="1210550"/>
            <a:ext cx="32310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Weather Station</a:t>
            </a:r>
            <a:endParaRPr sz="500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637575" y="2845038"/>
            <a:ext cx="34623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Francisco Ribeiro - 107993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Miguel Vila - 107276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Embedded Systems Architectures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37" title="WhatsApp Image 2025-07-06 at 5.06.16 PM.jpeg"/>
          <p:cNvPicPr preferRelativeResize="0"/>
          <p:nvPr/>
        </p:nvPicPr>
        <p:blipFill rotWithShape="1">
          <a:blip r:embed="rId3">
            <a:alphaModFix/>
          </a:blip>
          <a:srcRect b="18209" l="0" r="0" t="16411"/>
          <a:stretch/>
        </p:blipFill>
        <p:spPr>
          <a:xfrm>
            <a:off x="4691700" y="0"/>
            <a:ext cx="4452300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50" y="4781575"/>
            <a:ext cx="1373474" cy="2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8"/>
          <p:cNvPicPr preferRelativeResize="0"/>
          <p:nvPr/>
        </p:nvPicPr>
        <p:blipFill rotWithShape="1">
          <a:blip r:embed="rId3">
            <a:alphaModFix/>
          </a:blip>
          <a:srcRect b="29970" l="42601" r="42385" t="26253"/>
          <a:stretch/>
        </p:blipFill>
        <p:spPr>
          <a:xfrm>
            <a:off x="4367777" y="2144138"/>
            <a:ext cx="475714" cy="13870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38"/>
          <p:cNvGrpSpPr/>
          <p:nvPr/>
        </p:nvGrpSpPr>
        <p:grpSpPr>
          <a:xfrm>
            <a:off x="3853677" y="990675"/>
            <a:ext cx="1436756" cy="1386914"/>
            <a:chOff x="4188025" y="2520025"/>
            <a:chExt cx="978650" cy="944700"/>
          </a:xfrm>
        </p:grpSpPr>
        <p:sp>
          <p:nvSpPr>
            <p:cNvPr id="260" name="Google Shape;260;p38"/>
            <p:cNvSpPr/>
            <p:nvPr/>
          </p:nvSpPr>
          <p:spPr>
            <a:xfrm>
              <a:off x="4221975" y="2520025"/>
              <a:ext cx="944700" cy="944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8"/>
            <p:cNvSpPr/>
            <p:nvPr/>
          </p:nvSpPr>
          <p:spPr>
            <a:xfrm>
              <a:off x="4188025" y="2679850"/>
              <a:ext cx="200100" cy="200100"/>
            </a:xfrm>
            <a:prstGeom prst="ellipse">
              <a:avLst/>
            </a:prstGeom>
            <a:solidFill>
              <a:srgbClr val="AFAFA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" name="Google Shape;262;p38"/>
          <p:cNvGrpSpPr/>
          <p:nvPr/>
        </p:nvGrpSpPr>
        <p:grpSpPr>
          <a:xfrm rot="10800000">
            <a:off x="3853569" y="990563"/>
            <a:ext cx="1436756" cy="1386914"/>
            <a:chOff x="4188025" y="2520025"/>
            <a:chExt cx="978650" cy="944700"/>
          </a:xfrm>
        </p:grpSpPr>
        <p:sp>
          <p:nvSpPr>
            <p:cNvPr id="263" name="Google Shape;263;p38"/>
            <p:cNvSpPr/>
            <p:nvPr/>
          </p:nvSpPr>
          <p:spPr>
            <a:xfrm>
              <a:off x="4221975" y="2520025"/>
              <a:ext cx="944700" cy="9447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8"/>
            <p:cNvSpPr/>
            <p:nvPr/>
          </p:nvSpPr>
          <p:spPr>
            <a:xfrm>
              <a:off x="4188025" y="2679850"/>
              <a:ext cx="200100" cy="200100"/>
            </a:xfrm>
            <a:prstGeom prst="ellipse">
              <a:avLst/>
            </a:prstGeom>
            <a:solidFill>
              <a:srgbClr val="AFAFA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38"/>
          <p:cNvSpPr txBox="1"/>
          <p:nvPr/>
        </p:nvSpPr>
        <p:spPr>
          <a:xfrm>
            <a:off x="228075" y="282650"/>
            <a:ext cx="5421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Fira Sans Medium"/>
                <a:ea typeface="Fira Sans Medium"/>
                <a:cs typeface="Fira Sans Medium"/>
                <a:sym typeface="Fira Sans Medium"/>
              </a:rPr>
              <a:t>Custom-made sensor: WSP420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4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4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